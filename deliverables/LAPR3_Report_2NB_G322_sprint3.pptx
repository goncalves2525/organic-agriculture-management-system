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sldIdLst>
    <p:sldId id="295" r:id="rId5"/>
    <p:sldId id="409" r:id="rId6"/>
    <p:sldId id="404" r:id="rId7"/>
    <p:sldId id="411" r:id="rId8"/>
    <p:sldId id="412" r:id="rId9"/>
    <p:sldId id="413" r:id="rId10"/>
    <p:sldId id="414" r:id="rId11"/>
    <p:sldId id="406" r:id="rId12"/>
    <p:sldId id="407" r:id="rId13"/>
    <p:sldId id="408" r:id="rId14"/>
    <p:sldId id="398" r:id="rId15"/>
    <p:sldId id="405" r:id="rId16"/>
    <p:sldId id="387" r:id="rId17"/>
  </p:sldIdLst>
  <p:sldSz cx="9906000" cy="6858000" type="A4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5C4A510-B9CB-4D9D-F109-5B35B3D31AD4}" name="Rafael Ascenção Carolo" initials="RC" userId="S::1212047@isep.ipp.pt::6bc987e1-acf1-4423-8318-45bf06f18f9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85432"/>
    <a:srgbClr val="404040"/>
    <a:srgbClr val="7F7F7F"/>
    <a:srgbClr val="FF8600"/>
    <a:srgbClr val="FF6600"/>
    <a:srgbClr val="5B5B5B"/>
    <a:srgbClr val="7F7F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12C8C85-51F0-491E-9774-3900AFEF0FD7}" styleName="Estilo Claro 2 - Destaqu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8D230F3-CF80-4859-8CE7-A43EE81993B5}" styleName="Estilo Claro 1 - Destaqu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38B1855-1B75-4FBE-930C-398BA8C253C6}" styleName="Estilo com Tema 2 - Destaque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68" autoAdjust="0"/>
    <p:restoredTop sz="94762" autoAdjust="0"/>
  </p:normalViewPr>
  <p:slideViewPr>
    <p:cSldViewPr>
      <p:cViewPr varScale="1">
        <p:scale>
          <a:sx n="69" d="100"/>
          <a:sy n="69" d="100"/>
        </p:scale>
        <p:origin x="1212" y="7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PT" dirty="0" err="1"/>
              <a:t>Points</a:t>
            </a:r>
            <a:r>
              <a:rPr lang="pt-PT" dirty="0"/>
              <a:t> / n. </a:t>
            </a:r>
            <a:r>
              <a:rPr lang="pt-PT" dirty="0" err="1"/>
              <a:t>tasks</a:t>
            </a:r>
            <a:endParaRPr lang="pt-PT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Folha1!$B$1</c:f>
              <c:strCache>
                <c:ptCount val="1"/>
                <c:pt idx="0">
                  <c:v>Pontos / tarefas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Folha1!$A$2:$A$6</c:f>
              <c:strCache>
                <c:ptCount val="5"/>
                <c:pt idx="0">
                  <c:v>Diogo Santo</c:v>
                </c:pt>
                <c:pt idx="1">
                  <c:v>Paulo Moreira</c:v>
                </c:pt>
                <c:pt idx="2">
                  <c:v>Rafael Carolo</c:v>
                </c:pt>
                <c:pt idx="3">
                  <c:v>Ricardo Gonçalves</c:v>
                </c:pt>
                <c:pt idx="4">
                  <c:v>Tassio Gomes</c:v>
                </c:pt>
              </c:strCache>
            </c:strRef>
          </c:cat>
          <c:val>
            <c:numRef>
              <c:f>Folha1!$B$2:$B$6</c:f>
              <c:numCache>
                <c:formatCode>General</c:formatCode>
                <c:ptCount val="5"/>
                <c:pt idx="0">
                  <c:v>7.8</c:v>
                </c:pt>
                <c:pt idx="1">
                  <c:v>8.1999999999999993</c:v>
                </c:pt>
                <c:pt idx="2">
                  <c:v>8.2799999999999994</c:v>
                </c:pt>
                <c:pt idx="3">
                  <c:v>8.8800000000000008</c:v>
                </c:pt>
                <c:pt idx="4">
                  <c:v>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86-4A64-B307-80E9A35904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91907944"/>
        <c:axId val="691902368"/>
      </c:barChart>
      <c:catAx>
        <c:axId val="691907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1902368"/>
        <c:crosses val="autoZero"/>
        <c:auto val="1"/>
        <c:lblAlgn val="ctr"/>
        <c:lblOffset val="100"/>
        <c:noMultiLvlLbl val="0"/>
      </c:catAx>
      <c:valAx>
        <c:axId val="6919023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19079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PT" dirty="0"/>
              <a:t>Componente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Folha1!$B$1</c:f>
              <c:strCache>
                <c:ptCount val="1"/>
                <c:pt idx="0">
                  <c:v>Componente</c:v>
                </c:pt>
              </c:strCache>
            </c:strRef>
          </c:tx>
          <c:dPt>
            <c:idx val="0"/>
            <c:bubble3D val="0"/>
            <c:spPr>
              <a:solidFill>
                <a:schemeClr val="accent6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D5E-44D3-AE05-D0CC3596364F}"/>
              </c:ext>
            </c:extLst>
          </c:dPt>
          <c:dPt>
            <c:idx val="1"/>
            <c:bubble3D val="0"/>
            <c:spPr>
              <a:solidFill>
                <a:schemeClr val="accent6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D5E-44D3-AE05-D0CC3596364F}"/>
              </c:ext>
            </c:extLst>
          </c:dPt>
          <c:dPt>
            <c:idx val="2"/>
            <c:bubble3D val="0"/>
            <c:spPr>
              <a:solidFill>
                <a:schemeClr val="accent6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D5E-44D3-AE05-D0CC3596364F}"/>
              </c:ext>
            </c:extLst>
          </c:dPt>
          <c:dPt>
            <c:idx val="3"/>
            <c:bubble3D val="0"/>
            <c:spPr>
              <a:solidFill>
                <a:schemeClr val="accent6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D5E-44D3-AE05-D0CC3596364F}"/>
              </c:ext>
            </c:extLst>
          </c:dPt>
          <c:dPt>
            <c:idx val="4"/>
            <c:bubble3D val="0"/>
            <c:spPr>
              <a:solidFill>
                <a:schemeClr val="accent6">
                  <a:shade val="53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9CB7-4C94-BA22-694027E84A27}"/>
              </c:ext>
            </c:extLst>
          </c:dPt>
          <c:cat>
            <c:strRef>
              <c:f>Folha1!$A$2:$A$6</c:f>
              <c:strCache>
                <c:ptCount val="5"/>
                <c:pt idx="0">
                  <c:v>ESINF</c:v>
                </c:pt>
                <c:pt idx="1">
                  <c:v>ARQCP</c:v>
                </c:pt>
                <c:pt idx="2">
                  <c:v>BBDAD</c:v>
                </c:pt>
                <c:pt idx="3">
                  <c:v>LAPR3</c:v>
                </c:pt>
                <c:pt idx="4">
                  <c:v>FSIAP</c:v>
                </c:pt>
              </c:strCache>
            </c:strRef>
          </c:cat>
          <c:val>
            <c:numRef>
              <c:f>Folha1!$B$2:$B$6</c:f>
              <c:numCache>
                <c:formatCode>General</c:formatCode>
                <c:ptCount val="5"/>
                <c:pt idx="0">
                  <c:v>5</c:v>
                </c:pt>
                <c:pt idx="1">
                  <c:v>8</c:v>
                </c:pt>
                <c:pt idx="2">
                  <c:v>11</c:v>
                </c:pt>
                <c:pt idx="3">
                  <c:v>3</c:v>
                </c:pt>
                <c:pt idx="4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2C6-47B5-9769-0633602DAA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9">
  <a:schemeClr val="accent6"/>
</cs:colorStyle>
</file>

<file path=ppt/charts/colors2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8AA918-AAAF-A948-AD9D-7282A6CA6554}" type="datetimeFigureOut">
              <a:rPr lang="en-US" smtClean="0"/>
              <a:pPr/>
              <a:t>1/2/2024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1B708B-99F0-4F4A-8995-6044E0FFF0C7}" type="slidenum">
              <a:rPr lang="pt-PT" smtClean="0"/>
              <a:pPr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64209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14000" y="4000504"/>
            <a:ext cx="8182338" cy="571504"/>
          </a:xfrm>
        </p:spPr>
        <p:txBody>
          <a:bodyPr>
            <a:noAutofit/>
          </a:bodyPr>
          <a:lstStyle>
            <a:lvl1pPr algn="l">
              <a:defRPr sz="4000" b="0" cap="all" baseline="0"/>
            </a:lvl1pPr>
          </a:lstStyle>
          <a:p>
            <a:r>
              <a:rPr lang="pt-PT" dirty="0"/>
              <a:t>Clique para editar o estilo</a:t>
            </a:r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11A7A-C2E1-40A3-A304-BADFC0305F97}" type="datetimeFigureOut">
              <a:rPr lang="pt-PT" smtClean="0"/>
              <a:pPr/>
              <a:t>02/01/2024</a:t>
            </a:fld>
            <a:endParaRPr lang="pt-PT"/>
          </a:p>
        </p:txBody>
      </p:sp>
    </p:spTree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80968" y="4000504"/>
            <a:ext cx="8215370" cy="571504"/>
          </a:xfrm>
        </p:spPr>
        <p:txBody>
          <a:bodyPr anchor="t"/>
          <a:lstStyle>
            <a:lvl1pPr algn="l">
              <a:defRPr sz="4000" b="0" cap="all" baseline="0"/>
            </a:lvl1pPr>
          </a:lstStyle>
          <a:p>
            <a:r>
              <a:rPr lang="pt-PT" dirty="0"/>
              <a:t>Clique para editar o estilo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390552" y="4808553"/>
            <a:ext cx="6848464" cy="40639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>
          <a:xfrm>
            <a:off x="452406" y="6492899"/>
            <a:ext cx="1028676" cy="365125"/>
          </a:xfrm>
        </p:spPr>
        <p:txBody>
          <a:bodyPr/>
          <a:lstStyle/>
          <a:p>
            <a:fld id="{44B11A7A-C2E1-40A3-A304-BADFC0305F97}" type="datetimeFigureOut">
              <a:rPr lang="pt-PT" smtClean="0"/>
              <a:pPr/>
              <a:t>02/01/2024</a:t>
            </a:fld>
            <a:endParaRPr lang="pt-PT"/>
          </a:p>
        </p:txBody>
      </p:sp>
    </p:spTree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cto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14000" y="1000108"/>
            <a:ext cx="9043200" cy="571504"/>
          </a:xfrm>
        </p:spPr>
        <p:txBody>
          <a:bodyPr/>
          <a:lstStyle>
            <a:lvl1pPr algn="l">
              <a:defRPr sz="4000" b="1" cap="all" baseline="0"/>
            </a:lvl1pPr>
          </a:lstStyle>
          <a:p>
            <a:r>
              <a:rPr lang="pt-PT" dirty="0"/>
              <a:t>Clique para editar o estilo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414000" y="1714487"/>
            <a:ext cx="9043200" cy="4590000"/>
          </a:xfrm>
          <a:prstGeom prst="rect">
            <a:avLst/>
          </a:prstGeom>
        </p:spPr>
        <p:txBody>
          <a:bodyPr/>
          <a:lstStyle>
            <a:lvl1pPr>
              <a:buFont typeface="Arial" pitchFamily="34" charset="0"/>
              <a:buChar char="•"/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pt-PT" dirty="0"/>
              <a:t>Clique para editar os estilos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11A7A-C2E1-40A3-A304-BADFC0305F97}" type="datetimeFigureOut">
              <a:rPr lang="pt-PT" smtClean="0"/>
              <a:pPr/>
              <a:t>02/01/2024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6AC24-9121-4D27-8FE4-0595B5E1EC6D}" type="slidenum">
              <a:rPr lang="pt-PT" smtClean="0"/>
              <a:pPr/>
              <a:t>‹#›</a:t>
            </a:fld>
            <a:endParaRPr lang="pt-PT"/>
          </a:p>
        </p:txBody>
      </p:sp>
    </p:spTree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4000" b="1" cap="all" baseline="0"/>
            </a:lvl1pPr>
          </a:lstStyle>
          <a:p>
            <a:r>
              <a:rPr lang="pt-PT" dirty="0"/>
              <a:t>Clique para editar o estilo »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414000" y="1696520"/>
            <a:ext cx="4500000" cy="459000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 dirty="0"/>
              <a:t>Clique para editar os estilos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11A7A-C2E1-40A3-A304-BADFC0305F97}" type="datetimeFigureOut">
              <a:rPr lang="pt-PT" smtClean="0"/>
              <a:pPr/>
              <a:t>02/01/2024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6AC24-9121-4D27-8FE4-0595B5E1EC6D}" type="slidenum">
              <a:rPr lang="pt-PT" smtClean="0"/>
              <a:pPr/>
              <a:t>‹#›</a:t>
            </a:fld>
            <a:endParaRPr lang="pt-PT"/>
          </a:p>
        </p:txBody>
      </p:sp>
      <p:sp>
        <p:nvSpPr>
          <p:cNvPr id="8" name="Marcador de Posição de Conteúdo 2"/>
          <p:cNvSpPr>
            <a:spLocks noGrp="1"/>
          </p:cNvSpPr>
          <p:nvPr>
            <p:ph sz="half" idx="13"/>
          </p:nvPr>
        </p:nvSpPr>
        <p:spPr>
          <a:xfrm>
            <a:off x="4968000" y="1696520"/>
            <a:ext cx="4500000" cy="459000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 dirty="0"/>
              <a:t>Clique para editar os estilos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a Imagem 2"/>
          <p:cNvSpPr>
            <a:spLocks noGrp="1" noChangeAspect="1"/>
          </p:cNvSpPr>
          <p:nvPr>
            <p:ph type="pic" idx="1"/>
          </p:nvPr>
        </p:nvSpPr>
        <p:spPr>
          <a:xfrm>
            <a:off x="414000" y="1004400"/>
            <a:ext cx="9043200" cy="531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23844" y="5505468"/>
            <a:ext cx="5943600" cy="352424"/>
          </a:xfrm>
          <a:solidFill>
            <a:schemeClr val="bg1"/>
          </a:solidFill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 dirty="0"/>
              <a:t>Clique para editar o estilo</a:t>
            </a:r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523844" y="5929330"/>
            <a:ext cx="8858312" cy="27624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11A7A-C2E1-40A3-A304-BADFC0305F97}" type="datetimeFigureOut">
              <a:rPr lang="pt-PT" smtClean="0"/>
              <a:pPr/>
              <a:t>02/01/2024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6AC24-9121-4D27-8FE4-0595B5E1EC6D}" type="slidenum">
              <a:rPr lang="pt-PT" smtClean="0"/>
              <a:pPr/>
              <a:t>‹#›</a:t>
            </a:fld>
            <a:endParaRPr lang="pt-PT"/>
          </a:p>
        </p:txBody>
      </p:sp>
    </p:spTree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11A7A-C2E1-40A3-A304-BADFC0305F97}" type="datetimeFigureOut">
              <a:rPr lang="pt-PT" smtClean="0"/>
              <a:pPr/>
              <a:t>02/01/2024</a:t>
            </a:fld>
            <a:endParaRPr lang="pt-PT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6AC24-9121-4D27-8FE4-0595B5E1EC6D}" type="slidenum">
              <a:rPr lang="pt-PT" smtClean="0"/>
              <a:pPr/>
              <a:t>‹#›</a:t>
            </a:fld>
            <a:endParaRPr lang="pt-PT"/>
          </a:p>
        </p:txBody>
      </p:sp>
      <p:sp>
        <p:nvSpPr>
          <p:cNvPr id="5" name="Marcador de Posição do Título 1"/>
          <p:cNvSpPr>
            <a:spLocks noGrp="1"/>
          </p:cNvSpPr>
          <p:nvPr>
            <p:ph type="title"/>
          </p:nvPr>
        </p:nvSpPr>
        <p:spPr>
          <a:xfrm>
            <a:off x="685800" y="1066800"/>
            <a:ext cx="8610600" cy="571504"/>
          </a:xfrm>
          <a:prstGeom prst="rect">
            <a:avLst/>
          </a:prstGeom>
        </p:spPr>
        <p:txBody>
          <a:bodyPr vert="horz" lIns="90000" tIns="45720" rIns="91440" bIns="45720" rtlCol="0" anchor="t" anchorCtr="0">
            <a:noAutofit/>
          </a:bodyPr>
          <a:lstStyle/>
          <a:p>
            <a:r>
              <a:rPr lang="pt-PT" dirty="0"/>
              <a:t>TÍTULO</a:t>
            </a:r>
          </a:p>
        </p:txBody>
      </p:sp>
      <p:sp>
        <p:nvSpPr>
          <p:cNvPr id="6" name="Marcador de Posição do Texto 2"/>
          <p:cNvSpPr>
            <a:spLocks noGrp="1"/>
          </p:cNvSpPr>
          <p:nvPr>
            <p:ph idx="1" hasCustomPrompt="1"/>
          </p:nvPr>
        </p:nvSpPr>
        <p:spPr>
          <a:xfrm>
            <a:off x="685800" y="1714488"/>
            <a:ext cx="8610600" cy="4572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m branco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ção do Título 1"/>
          <p:cNvSpPr>
            <a:spLocks noGrp="1"/>
          </p:cNvSpPr>
          <p:nvPr>
            <p:ph type="title"/>
          </p:nvPr>
        </p:nvSpPr>
        <p:spPr>
          <a:xfrm>
            <a:off x="685800" y="1066800"/>
            <a:ext cx="8534400" cy="571504"/>
          </a:xfrm>
          <a:prstGeom prst="rect">
            <a:avLst/>
          </a:prstGeom>
        </p:spPr>
        <p:txBody>
          <a:bodyPr vert="horz" lIns="90000" tIns="45720" rIns="91440" bIns="45720" rtlCol="0" anchor="t" anchorCtr="0">
            <a:noAutofit/>
          </a:bodyPr>
          <a:lstStyle/>
          <a:p>
            <a:r>
              <a:rPr lang="pt-PT" dirty="0"/>
              <a:t>TÍTULO</a:t>
            </a:r>
          </a:p>
        </p:txBody>
      </p:sp>
      <p:sp>
        <p:nvSpPr>
          <p:cNvPr id="6" name="Marcador de Posição do Texto 2"/>
          <p:cNvSpPr>
            <a:spLocks noGrp="1"/>
          </p:cNvSpPr>
          <p:nvPr>
            <p:ph idx="1"/>
          </p:nvPr>
        </p:nvSpPr>
        <p:spPr>
          <a:xfrm>
            <a:off x="685800" y="1714488"/>
            <a:ext cx="8534400" cy="4305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800">
                <a:solidFill>
                  <a:srgbClr val="D9D9D9"/>
                </a:solidFill>
              </a:defRPr>
            </a:lvl1pPr>
            <a:lvl2pPr>
              <a:defRPr sz="1800">
                <a:solidFill>
                  <a:srgbClr val="D9D9D9"/>
                </a:solidFill>
              </a:defRPr>
            </a:lvl2pPr>
            <a:lvl3pPr>
              <a:defRPr sz="1800">
                <a:solidFill>
                  <a:srgbClr val="D9D9D9"/>
                </a:solidFill>
              </a:defRPr>
            </a:lvl3pPr>
            <a:lvl4pPr>
              <a:defRPr sz="1800">
                <a:solidFill>
                  <a:srgbClr val="D9D9D9"/>
                </a:solidFill>
              </a:defRPr>
            </a:lvl4pPr>
            <a:lvl5pPr>
              <a:defRPr sz="1800">
                <a:solidFill>
                  <a:srgbClr val="D9D9D9"/>
                </a:solidFill>
              </a:defRPr>
            </a:lvl5pPr>
          </a:lstStyle>
          <a:p>
            <a:pPr lvl="0"/>
            <a:r>
              <a:rPr lang="pt-PT" dirty="0"/>
              <a:t>Clique para editar os estilos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trada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11A7A-C2E1-40A3-A304-BADFC0305F97}" type="datetimeFigureOut">
              <a:rPr lang="pt-PT" smtClean="0"/>
              <a:pPr/>
              <a:t>02/01/2024</a:t>
            </a:fld>
            <a:endParaRPr lang="pt-PT"/>
          </a:p>
        </p:txBody>
      </p:sp>
      <p:sp>
        <p:nvSpPr>
          <p:cNvPr id="4" name="TextBox 3"/>
          <p:cNvSpPr txBox="1"/>
          <p:nvPr userDrawn="1"/>
        </p:nvSpPr>
        <p:spPr>
          <a:xfrm flipH="1">
            <a:off x="6764159" y="4953000"/>
            <a:ext cx="182741" cy="37471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 rtlCol="0">
            <a:spAutoFit/>
          </a:bodyPr>
          <a:lstStyle/>
          <a:p>
            <a: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solidFill>
                <a:srgbClr val="00CAE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trada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11A7A-C2E1-40A3-A304-BADFC0305F97}" type="datetimeFigureOut">
              <a:rPr lang="pt-PT" smtClean="0"/>
              <a:pPr/>
              <a:t>02/01/2024</a:t>
            </a:fld>
            <a:endParaRPr lang="pt-PT"/>
          </a:p>
        </p:txBody>
      </p:sp>
    </p:spTree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squema Personalizado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a Data 3"/>
          <p:cNvSpPr>
            <a:spLocks noGrp="1"/>
          </p:cNvSpPr>
          <p:nvPr>
            <p:ph type="dt" sz="half" idx="2"/>
          </p:nvPr>
        </p:nvSpPr>
        <p:spPr>
          <a:xfrm>
            <a:off x="495300" y="6492899"/>
            <a:ext cx="10286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B11A7A-C2E1-40A3-A304-BADFC0305F97}" type="datetimeFigureOut">
              <a:rPr lang="pt-PT" smtClean="0"/>
              <a:pPr/>
              <a:t>02/01/2024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3"/>
          </p:nvPr>
        </p:nvSpPr>
        <p:spPr>
          <a:xfrm>
            <a:off x="1666852" y="6492899"/>
            <a:ext cx="57864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 dirty="0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7596206" y="6492899"/>
            <a:ext cx="8572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46AC24-9121-4D27-8FE4-0595B5E1EC6D}" type="slidenum">
              <a:rPr lang="pt-PT" smtClean="0"/>
              <a:pPr/>
              <a:t>‹#›</a:t>
            </a:fld>
            <a:endParaRPr lang="pt-PT"/>
          </a:p>
        </p:txBody>
      </p:sp>
      <p:sp>
        <p:nvSpPr>
          <p:cNvPr id="2" name="Marcador de Posição do Título 1"/>
          <p:cNvSpPr>
            <a:spLocks noGrp="1"/>
          </p:cNvSpPr>
          <p:nvPr>
            <p:ph type="title"/>
          </p:nvPr>
        </p:nvSpPr>
        <p:spPr>
          <a:xfrm>
            <a:off x="685800" y="1066800"/>
            <a:ext cx="8771400" cy="571504"/>
          </a:xfrm>
          <a:prstGeom prst="rect">
            <a:avLst/>
          </a:prstGeom>
        </p:spPr>
        <p:txBody>
          <a:bodyPr vert="horz" lIns="90000" tIns="45720" rIns="91440" bIns="45720" rtlCol="0" anchor="t" anchorCtr="0">
            <a:noAutofit/>
          </a:bodyPr>
          <a:lstStyle/>
          <a:p>
            <a:r>
              <a:rPr lang="pt-PT" dirty="0"/>
              <a:t>TÍTULO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1" r:id="rId2"/>
    <p:sldLayoutId id="2147483650" r:id="rId3"/>
    <p:sldLayoutId id="2147483652" r:id="rId4"/>
    <p:sldLayoutId id="2147483657" r:id="rId5"/>
    <p:sldLayoutId id="2147483655" r:id="rId6"/>
    <p:sldLayoutId id="2147483661" r:id="rId7"/>
    <p:sldLayoutId id="2147483659" r:id="rId8"/>
    <p:sldLayoutId id="2147483660" r:id="rId9"/>
    <p:sldLayoutId id="2147483658" r:id="rId10"/>
  </p:sldLayoutIdLst>
  <p:transition spd="med">
    <p:fade/>
  </p:transition>
  <p:txStyles>
    <p:titleStyle>
      <a:lvl1pPr algn="l" defTabSz="914400" rtl="0" eaLnBrk="1" latinLnBrk="0" hangingPunct="1">
        <a:spcBef>
          <a:spcPct val="0"/>
        </a:spcBef>
        <a:buNone/>
        <a:defRPr sz="3200" b="1" i="0" kern="1200" cap="all" baseline="0">
          <a:solidFill>
            <a:schemeClr val="bg1"/>
          </a:solidFill>
          <a:latin typeface="Calibri"/>
          <a:ea typeface="+mj-ea"/>
          <a:cs typeface="Calibri"/>
        </a:defRPr>
      </a:lvl1pPr>
    </p:titleStyle>
    <p:bodyStyle>
      <a:lvl1pPr marL="342900" indent="-342900" algn="l" defTabSz="914400" rtl="0" eaLnBrk="1" latinLnBrk="0" hangingPunct="1">
        <a:spcBef>
          <a:spcPts val="0"/>
        </a:spcBef>
        <a:spcAft>
          <a:spcPts val="400"/>
        </a:spcAft>
        <a:buFont typeface="Arial" pitchFamily="34" charset="0"/>
        <a:buChar char="•"/>
        <a:defRPr sz="1800" kern="1200">
          <a:solidFill>
            <a:schemeClr val="bg1">
              <a:lumMod val="85000"/>
            </a:schemeClr>
          </a:solidFill>
          <a:latin typeface="Calibri"/>
          <a:ea typeface="+mn-ea"/>
          <a:cs typeface="Calibri"/>
        </a:defRPr>
      </a:lvl1pPr>
      <a:lvl2pPr marL="742950" indent="-285750" algn="l" defTabSz="914400" rtl="0" eaLnBrk="1" latinLnBrk="0" hangingPunct="1">
        <a:spcBef>
          <a:spcPts val="0"/>
        </a:spcBef>
        <a:spcAft>
          <a:spcPts val="400"/>
        </a:spcAft>
        <a:buFont typeface="Arial" pitchFamily="34" charset="0"/>
        <a:buChar char="–"/>
        <a:defRPr sz="1800" kern="1200">
          <a:solidFill>
            <a:schemeClr val="bg1">
              <a:lumMod val="85000"/>
            </a:schemeClr>
          </a:solidFill>
          <a:latin typeface="Calibri"/>
          <a:ea typeface="+mn-ea"/>
          <a:cs typeface="Calibri"/>
        </a:defRPr>
      </a:lvl2pPr>
      <a:lvl3pPr marL="1143000" indent="-228600" algn="l" defTabSz="914400" rtl="0" eaLnBrk="1" latinLnBrk="0" hangingPunct="1">
        <a:spcBef>
          <a:spcPts val="0"/>
        </a:spcBef>
        <a:spcAft>
          <a:spcPts val="400"/>
        </a:spcAft>
        <a:buFont typeface="Arial" pitchFamily="34" charset="0"/>
        <a:buNone/>
        <a:defRPr sz="1800" kern="1200">
          <a:solidFill>
            <a:schemeClr val="bg1">
              <a:lumMod val="85000"/>
            </a:schemeClr>
          </a:solidFill>
          <a:latin typeface="Calibri"/>
          <a:ea typeface="+mn-ea"/>
          <a:cs typeface="Calibri"/>
        </a:defRPr>
      </a:lvl3pPr>
      <a:lvl4pPr marL="1600200" indent="-228600" algn="l" defTabSz="914400" rtl="0" eaLnBrk="1" latinLnBrk="0" hangingPunct="1">
        <a:spcBef>
          <a:spcPts val="0"/>
        </a:spcBef>
        <a:spcAft>
          <a:spcPts val="400"/>
        </a:spcAft>
        <a:buFont typeface="Arial" pitchFamily="34" charset="0"/>
        <a:buChar char="–"/>
        <a:defRPr sz="1800" kern="1200">
          <a:solidFill>
            <a:schemeClr val="bg1">
              <a:lumMod val="85000"/>
            </a:schemeClr>
          </a:solidFill>
          <a:latin typeface="Calibri"/>
          <a:ea typeface="+mn-ea"/>
          <a:cs typeface="Calibri"/>
        </a:defRPr>
      </a:lvl4pPr>
      <a:lvl5pPr marL="2057400" indent="-228600" algn="l" defTabSz="914400" rtl="0" eaLnBrk="1" latinLnBrk="0" hangingPunct="1">
        <a:spcBef>
          <a:spcPts val="0"/>
        </a:spcBef>
        <a:spcAft>
          <a:spcPts val="400"/>
        </a:spcAft>
        <a:buFont typeface="Arial" pitchFamily="34" charset="0"/>
        <a:buChar char="»"/>
        <a:defRPr sz="1800" kern="1200">
          <a:solidFill>
            <a:schemeClr val="bg1">
              <a:lumMod val="85000"/>
            </a:schemeClr>
          </a:solidFill>
          <a:latin typeface="Calibri"/>
          <a:ea typeface="+mn-ea"/>
          <a:cs typeface="Calibri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36CE6F5-8CA7-4383-A151-C2832D6337AE}"/>
              </a:ext>
            </a:extLst>
          </p:cNvPr>
          <p:cNvSpPr txBox="1"/>
          <p:nvPr/>
        </p:nvSpPr>
        <p:spPr>
          <a:xfrm>
            <a:off x="3962890" y="4824155"/>
            <a:ext cx="5310590" cy="160043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Bef>
                <a:spcPct val="20000"/>
              </a:spcBef>
            </a:pPr>
            <a:r>
              <a:rPr lang="pt-PT" sz="1400" dirty="0" err="1">
                <a:solidFill>
                  <a:schemeClr val="bg1"/>
                </a:solidFill>
              </a:rPr>
              <a:t>Group</a:t>
            </a:r>
            <a:r>
              <a:rPr lang="pt-PT" sz="1400" dirty="0">
                <a:solidFill>
                  <a:schemeClr val="bg1"/>
                </a:solidFill>
              </a:rPr>
              <a:t> </a:t>
            </a:r>
            <a:r>
              <a:rPr lang="pt-PT" sz="1400" dirty="0" err="1">
                <a:solidFill>
                  <a:schemeClr val="bg1"/>
                </a:solidFill>
              </a:rPr>
              <a:t>members</a:t>
            </a:r>
            <a:r>
              <a:rPr kumimoji="0" lang="pt-PT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  <a:p>
            <a: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pt-PT" sz="1400" dirty="0">
                <a:solidFill>
                  <a:schemeClr val="bg1"/>
                </a:solidFill>
              </a:rPr>
              <a:t>Diogo Santo (1212039)</a:t>
            </a:r>
          </a:p>
          <a:p>
            <a: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PT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Paulo Moreira</a:t>
            </a:r>
            <a:r>
              <a:rPr lang="pt-PT" sz="1400" dirty="0">
                <a:solidFill>
                  <a:schemeClr val="bg1"/>
                </a:solidFill>
              </a:rPr>
              <a:t> (1212044)</a:t>
            </a:r>
          </a:p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kumimoji="0" lang="pt-PT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Rafael Carolo</a:t>
            </a:r>
            <a:r>
              <a:rPr lang="pt-PT" sz="1400" dirty="0">
                <a:solidFill>
                  <a:schemeClr val="bg1"/>
                </a:solidFill>
              </a:rPr>
              <a:t> (1212047)</a:t>
            </a:r>
            <a:endParaRPr lang="pt-PT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</a:endParaRPr>
          </a:p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kumimoji="0" lang="pt-PT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Ricardo Gonçalves</a:t>
            </a:r>
            <a:r>
              <a:rPr lang="pt-PT" sz="1400" dirty="0">
                <a:solidFill>
                  <a:schemeClr val="bg1"/>
                </a:solidFill>
              </a:rPr>
              <a:t> (1221720)</a:t>
            </a:r>
          </a:p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kumimoji="0" lang="pt-PT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Tassio</a:t>
            </a:r>
            <a:r>
              <a:rPr kumimoji="0" lang="pt-PT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Gomes</a:t>
            </a:r>
            <a:r>
              <a:rPr lang="pt-PT" sz="1400" dirty="0">
                <a:solidFill>
                  <a:schemeClr val="bg1"/>
                </a:solidFill>
              </a:rPr>
              <a:t> (1170065) (BDDAD)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20BB2CE-AD20-4EB4-9198-1AB0990B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 2Nx2NB Group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lang="en-US" sz="32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322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SPRINT 3</a:t>
            </a:r>
            <a:endParaRPr lang="en-US" sz="3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87CCFBD-63B6-4340-92B3-5E03879F6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cap="none" dirty="0">
                <a:solidFill>
                  <a:schemeClr val="tx1"/>
                </a:solidFill>
              </a:rPr>
              <a:t>Sprint planning – Sprint 3</a:t>
            </a:r>
          </a:p>
        </p:txBody>
      </p:sp>
      <p:graphicFrame>
        <p:nvGraphicFramePr>
          <p:cNvPr id="2" name="Tabela 2">
            <a:extLst>
              <a:ext uri="{FF2B5EF4-FFF2-40B4-BE49-F238E27FC236}">
                <a16:creationId xmlns:a16="http://schemas.microsoft.com/office/drawing/2014/main" id="{CE9589D4-96FD-42EC-88BF-AABA0DB75B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4223811"/>
              </p:ext>
            </p:extLst>
          </p:nvPr>
        </p:nvGraphicFramePr>
        <p:xfrm>
          <a:off x="1020165" y="2618910"/>
          <a:ext cx="7830870" cy="2865117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3960440">
                  <a:extLst>
                    <a:ext uri="{9D8B030D-6E8A-4147-A177-3AD203B41FA5}">
                      <a16:colId xmlns:a16="http://schemas.microsoft.com/office/drawing/2014/main" val="3798560086"/>
                    </a:ext>
                  </a:extLst>
                </a:gridCol>
                <a:gridCol w="3870430">
                  <a:extLst>
                    <a:ext uri="{9D8B030D-6E8A-4147-A177-3AD203B41FA5}">
                      <a16:colId xmlns:a16="http://schemas.microsoft.com/office/drawing/2014/main" val="4775622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PT" dirty="0"/>
                        <a:t>SPRINT BACKLOG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3111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Number of stories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/>
                        <a:t>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3314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Number of bugs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254498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noProof="0" dirty="0"/>
                        <a:t>Number of tasks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noProof="0" dirty="0"/>
                        <a:t>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5709446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noProof="0" dirty="0"/>
                        <a:t>Number of Management Tasks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noProof="0" dirty="0"/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351787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noProof="0" dirty="0"/>
                        <a:t>Number of team members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noProof="0" dirty="0"/>
                        <a:t>Planned: 5             Actual: 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3102962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noProof="0" dirty="0"/>
                        <a:t>Total planned estimation vs execution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noProof="0" dirty="0"/>
                        <a:t>Planned hours: 253</a:t>
                      </a:r>
                    </a:p>
                    <a:p>
                      <a:pPr lvl="0" algn="ctr">
                        <a:buNone/>
                      </a:pPr>
                      <a:r>
                        <a:rPr lang="en-US" noProof="0" dirty="0"/>
                        <a:t>Executed hours: </a:t>
                      </a:r>
                      <a:r>
                        <a:rPr lang="en-US" noProof="0" dirty="0">
                          <a:solidFill>
                            <a:schemeClr val="tx1"/>
                          </a:solidFill>
                        </a:rPr>
                        <a:t>253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8989459"/>
                  </a:ext>
                </a:extLst>
              </a:tr>
            </a:tbl>
          </a:graphicData>
        </a:graphic>
      </p:graphicFrame>
      <p:sp>
        <p:nvSpPr>
          <p:cNvPr id="7" name="Marcador de Posição de Conteúdo 5">
            <a:extLst>
              <a:ext uri="{FF2B5EF4-FFF2-40B4-BE49-F238E27FC236}">
                <a16:creationId xmlns:a16="http://schemas.microsoft.com/office/drawing/2014/main" id="{6F8BAF59-30E8-4D49-87D9-D5A1CD648639}"/>
              </a:ext>
            </a:extLst>
          </p:cNvPr>
          <p:cNvSpPr txBox="1">
            <a:spLocks/>
          </p:cNvSpPr>
          <p:nvPr/>
        </p:nvSpPr>
        <p:spPr>
          <a:xfrm>
            <a:off x="448800" y="1626520"/>
            <a:ext cx="9043200" cy="710644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914400" rtl="0" eaLnBrk="1" latinLnBrk="0" hangingPunct="1">
              <a:spcBef>
                <a:spcPts val="0"/>
              </a:spcBef>
              <a:spcAft>
                <a:spcPts val="400"/>
              </a:spcAft>
              <a:buFont typeface="Arial" pitchFamily="34" charset="0"/>
              <a:buChar char="•"/>
              <a:defRPr sz="2000" kern="1200">
                <a:solidFill>
                  <a:schemeClr val="bg1">
                    <a:lumMod val="85000"/>
                  </a:schemeClr>
                </a:solidFill>
                <a:latin typeface="Calibri"/>
                <a:ea typeface="+mn-ea"/>
                <a:cs typeface="Calibri"/>
              </a:defRPr>
            </a:lvl1pPr>
            <a:lvl2pPr marL="742950" indent="-285750" algn="l" defTabSz="914400" rtl="0" eaLnBrk="1" latinLnBrk="0" hangingPunct="1">
              <a:spcBef>
                <a:spcPts val="0"/>
              </a:spcBef>
              <a:spcAft>
                <a:spcPts val="400"/>
              </a:spcAft>
              <a:buFont typeface="Arial" pitchFamily="34" charset="0"/>
              <a:buChar char="–"/>
              <a:defRPr sz="1800" kern="1200">
                <a:solidFill>
                  <a:schemeClr val="bg1">
                    <a:lumMod val="85000"/>
                  </a:schemeClr>
                </a:solidFill>
                <a:latin typeface="Calibri"/>
                <a:ea typeface="+mn-ea"/>
                <a:cs typeface="Calibri"/>
              </a:defRPr>
            </a:lvl2pPr>
            <a:lvl3pPr marL="1143000" indent="-228600" algn="l" defTabSz="914400" rtl="0" eaLnBrk="1" latinLnBrk="0" hangingPunct="1">
              <a:spcBef>
                <a:spcPts val="0"/>
              </a:spcBef>
              <a:spcAft>
                <a:spcPts val="400"/>
              </a:spcAft>
              <a:buFont typeface="Arial" pitchFamily="34" charset="0"/>
              <a:buNone/>
              <a:defRPr sz="1600" kern="1200">
                <a:solidFill>
                  <a:schemeClr val="bg1">
                    <a:lumMod val="85000"/>
                  </a:schemeClr>
                </a:solidFill>
                <a:latin typeface="Calibri"/>
                <a:ea typeface="+mn-ea"/>
                <a:cs typeface="Calibri"/>
              </a:defRPr>
            </a:lvl3pPr>
            <a:lvl4pPr marL="1600200" indent="-228600" algn="l" defTabSz="914400" rtl="0" eaLnBrk="1" latinLnBrk="0" hangingPunct="1">
              <a:spcBef>
                <a:spcPts val="0"/>
              </a:spcBef>
              <a:spcAft>
                <a:spcPts val="400"/>
              </a:spcAft>
              <a:buFont typeface="Arial" pitchFamily="34" charset="0"/>
              <a:buChar char="–"/>
              <a:defRPr sz="1400" kern="1200">
                <a:solidFill>
                  <a:schemeClr val="bg1">
                    <a:lumMod val="85000"/>
                  </a:schemeClr>
                </a:solidFill>
                <a:latin typeface="Calibri"/>
                <a:ea typeface="+mn-ea"/>
                <a:cs typeface="Calibri"/>
              </a:defRPr>
            </a:lvl4pPr>
            <a:lvl5pPr marL="2057400" indent="-228600" algn="l" defTabSz="914400" rtl="0" eaLnBrk="1" latinLnBrk="0" hangingPunct="1">
              <a:spcBef>
                <a:spcPts val="0"/>
              </a:spcBef>
              <a:spcAft>
                <a:spcPts val="400"/>
              </a:spcAft>
              <a:buFont typeface="Arial" pitchFamily="34" charset="0"/>
              <a:buChar char="»"/>
              <a:defRPr sz="1200" kern="1200">
                <a:solidFill>
                  <a:schemeClr val="bg1">
                    <a:lumMod val="85000"/>
                  </a:schemeClr>
                </a:solidFill>
                <a:latin typeface="Calibri"/>
                <a:ea typeface="+mn-ea"/>
                <a:cs typeface="Calibri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Planned Start Date: 27-11-2023                           Real Start Date: 30-11-2023 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Planned Finished Date: 03-01-2024                     Real Finish Date: 03-01-2024</a:t>
            </a:r>
          </a:p>
          <a:p>
            <a:pPr marL="0" indent="0">
              <a:buFont typeface="Arial" pitchFamily="34" charset="0"/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167943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87CCFBD-63B6-4340-92B3-5E03879F6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" y="1000108"/>
            <a:ext cx="9219520" cy="571504"/>
          </a:xfrm>
        </p:spPr>
        <p:txBody>
          <a:bodyPr/>
          <a:lstStyle/>
          <a:p>
            <a:r>
              <a:rPr lang="en-US" sz="3200" cap="none">
                <a:solidFill>
                  <a:schemeClr val="tx1"/>
                </a:solidFill>
              </a:rPr>
              <a:t>Sprint planning</a:t>
            </a:r>
          </a:p>
        </p:txBody>
      </p:sp>
      <p:graphicFrame>
        <p:nvGraphicFramePr>
          <p:cNvPr id="2" name="Tabela 2">
            <a:extLst>
              <a:ext uri="{FF2B5EF4-FFF2-40B4-BE49-F238E27FC236}">
                <a16:creationId xmlns:a16="http://schemas.microsoft.com/office/drawing/2014/main" id="{CE9589D4-96FD-42EC-88BF-AABA0DB75B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702518"/>
              </p:ext>
            </p:extLst>
          </p:nvPr>
        </p:nvGraphicFramePr>
        <p:xfrm>
          <a:off x="448800" y="1891728"/>
          <a:ext cx="9008401" cy="111252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15886">
                  <a:extLst>
                    <a:ext uri="{9D8B030D-6E8A-4147-A177-3AD203B41FA5}">
                      <a16:colId xmlns:a16="http://schemas.microsoft.com/office/drawing/2014/main" val="3798560086"/>
                    </a:ext>
                  </a:extLst>
                </a:gridCol>
                <a:gridCol w="1382241">
                  <a:extLst>
                    <a:ext uri="{9D8B030D-6E8A-4147-A177-3AD203B41FA5}">
                      <a16:colId xmlns:a16="http://schemas.microsoft.com/office/drawing/2014/main" val="477562216"/>
                    </a:ext>
                  </a:extLst>
                </a:gridCol>
                <a:gridCol w="792931">
                  <a:extLst>
                    <a:ext uri="{9D8B030D-6E8A-4147-A177-3AD203B41FA5}">
                      <a16:colId xmlns:a16="http://schemas.microsoft.com/office/drawing/2014/main" val="1777303491"/>
                    </a:ext>
                  </a:extLst>
                </a:gridCol>
                <a:gridCol w="1194399">
                  <a:extLst>
                    <a:ext uri="{9D8B030D-6E8A-4147-A177-3AD203B41FA5}">
                      <a16:colId xmlns:a16="http://schemas.microsoft.com/office/drawing/2014/main" val="2634392098"/>
                    </a:ext>
                  </a:extLst>
                </a:gridCol>
                <a:gridCol w="1405178">
                  <a:extLst>
                    <a:ext uri="{9D8B030D-6E8A-4147-A177-3AD203B41FA5}">
                      <a16:colId xmlns:a16="http://schemas.microsoft.com/office/drawing/2014/main" val="4052991344"/>
                    </a:ext>
                  </a:extLst>
                </a:gridCol>
                <a:gridCol w="1258883">
                  <a:extLst>
                    <a:ext uri="{9D8B030D-6E8A-4147-A177-3AD203B41FA5}">
                      <a16:colId xmlns:a16="http://schemas.microsoft.com/office/drawing/2014/main" val="3578044204"/>
                    </a:ext>
                  </a:extLst>
                </a:gridCol>
                <a:gridCol w="1258883">
                  <a:extLst>
                    <a:ext uri="{9D8B030D-6E8A-4147-A177-3AD203B41FA5}">
                      <a16:colId xmlns:a16="http://schemas.microsoft.com/office/drawing/2014/main" val="31475702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/>
                        <a:t>Assignment 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Commited?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Todo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Doing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Testing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Done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/>
                        <a:t>Blocked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3111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US LP10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30-11-2023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3314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US LP11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30-11-2023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2544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3375763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87CCFBD-63B6-4340-92B3-5E03879F6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" y="1000108"/>
            <a:ext cx="9219520" cy="571504"/>
          </a:xfrm>
        </p:spPr>
        <p:txBody>
          <a:bodyPr/>
          <a:lstStyle/>
          <a:p>
            <a:r>
              <a:rPr lang="en-US" sz="3200" cap="none">
                <a:solidFill>
                  <a:schemeClr val="tx1"/>
                </a:solidFill>
              </a:rPr>
              <a:t>Sprint planning</a:t>
            </a:r>
          </a:p>
        </p:txBody>
      </p:sp>
      <p:graphicFrame>
        <p:nvGraphicFramePr>
          <p:cNvPr id="2" name="Tabela 2">
            <a:extLst>
              <a:ext uri="{FF2B5EF4-FFF2-40B4-BE49-F238E27FC236}">
                <a16:creationId xmlns:a16="http://schemas.microsoft.com/office/drawing/2014/main" id="{CE9589D4-96FD-42EC-88BF-AABA0DB75B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1036763"/>
              </p:ext>
            </p:extLst>
          </p:nvPr>
        </p:nvGraphicFramePr>
        <p:xfrm>
          <a:off x="448799" y="1571612"/>
          <a:ext cx="9008401" cy="3995155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15886">
                  <a:extLst>
                    <a:ext uri="{9D8B030D-6E8A-4147-A177-3AD203B41FA5}">
                      <a16:colId xmlns:a16="http://schemas.microsoft.com/office/drawing/2014/main" val="3798560086"/>
                    </a:ext>
                  </a:extLst>
                </a:gridCol>
                <a:gridCol w="1382241">
                  <a:extLst>
                    <a:ext uri="{9D8B030D-6E8A-4147-A177-3AD203B41FA5}">
                      <a16:colId xmlns:a16="http://schemas.microsoft.com/office/drawing/2014/main" val="477562216"/>
                    </a:ext>
                  </a:extLst>
                </a:gridCol>
                <a:gridCol w="792931">
                  <a:extLst>
                    <a:ext uri="{9D8B030D-6E8A-4147-A177-3AD203B41FA5}">
                      <a16:colId xmlns:a16="http://schemas.microsoft.com/office/drawing/2014/main" val="1777303491"/>
                    </a:ext>
                  </a:extLst>
                </a:gridCol>
                <a:gridCol w="1194399">
                  <a:extLst>
                    <a:ext uri="{9D8B030D-6E8A-4147-A177-3AD203B41FA5}">
                      <a16:colId xmlns:a16="http://schemas.microsoft.com/office/drawing/2014/main" val="2634392098"/>
                    </a:ext>
                  </a:extLst>
                </a:gridCol>
                <a:gridCol w="1405178">
                  <a:extLst>
                    <a:ext uri="{9D8B030D-6E8A-4147-A177-3AD203B41FA5}">
                      <a16:colId xmlns:a16="http://schemas.microsoft.com/office/drawing/2014/main" val="4052991344"/>
                    </a:ext>
                  </a:extLst>
                </a:gridCol>
                <a:gridCol w="1258883">
                  <a:extLst>
                    <a:ext uri="{9D8B030D-6E8A-4147-A177-3AD203B41FA5}">
                      <a16:colId xmlns:a16="http://schemas.microsoft.com/office/drawing/2014/main" val="3578044204"/>
                    </a:ext>
                  </a:extLst>
                </a:gridCol>
                <a:gridCol w="1258883">
                  <a:extLst>
                    <a:ext uri="{9D8B030D-6E8A-4147-A177-3AD203B41FA5}">
                      <a16:colId xmlns:a16="http://schemas.microsoft.com/office/drawing/2014/main" val="3147570245"/>
                    </a:ext>
                  </a:extLst>
                </a:gridCol>
              </a:tblGrid>
              <a:tr h="329945">
                <a:tc>
                  <a:txBody>
                    <a:bodyPr/>
                    <a:lstStyle/>
                    <a:p>
                      <a:r>
                        <a:rPr lang="en-US" noProof="0"/>
                        <a:t>Assignment 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Commited?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Todo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Doing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Testing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Done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/>
                        <a:t>Blocked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3111211"/>
                  </a:ext>
                </a:extLst>
              </a:tr>
              <a:tr h="329945">
                <a:tc>
                  <a:txBody>
                    <a:bodyPr/>
                    <a:lstStyle/>
                    <a:p>
                      <a:r>
                        <a:rPr lang="en-GB" sz="1400" dirty="0"/>
                        <a:t>US BD24</a:t>
                      </a:r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dirty="0"/>
                        <a:t>30-11-2023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3314903"/>
                  </a:ext>
                </a:extLst>
              </a:tr>
              <a:tr h="329945">
                <a:tc>
                  <a:txBody>
                    <a:bodyPr/>
                    <a:lstStyle/>
                    <a:p>
                      <a:r>
                        <a:rPr lang="en-GB" sz="1400" dirty="0"/>
                        <a:t>US BD25</a:t>
                      </a:r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zuka Gothic Pro R"/>
                          <a:ea typeface="+mn-ea"/>
                          <a:cs typeface="+mn-cs"/>
                        </a:rPr>
                        <a:t>30-11-2023</a:t>
                      </a:r>
                      <a:endParaRPr kumimoji="0" lang="pt-PT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zuka Gothic Pro R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254498"/>
                  </a:ext>
                </a:extLst>
              </a:tr>
              <a:tr h="329945">
                <a:tc>
                  <a:txBody>
                    <a:bodyPr/>
                    <a:lstStyle/>
                    <a:p>
                      <a:r>
                        <a:rPr lang="en-GB" sz="1400" dirty="0"/>
                        <a:t>US BD26</a:t>
                      </a:r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zuka Gothic Pro R"/>
                          <a:ea typeface="+mn-ea"/>
                          <a:cs typeface="+mn-cs"/>
                        </a:rPr>
                        <a:t>30-11-2023</a:t>
                      </a:r>
                      <a:endParaRPr kumimoji="0" lang="pt-PT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zuka Gothic Pro R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8649050"/>
                  </a:ext>
                </a:extLst>
              </a:tr>
              <a:tr h="329945">
                <a:tc>
                  <a:txBody>
                    <a:bodyPr/>
                    <a:lstStyle/>
                    <a:p>
                      <a:r>
                        <a:rPr lang="en-GB" sz="1400" dirty="0"/>
                        <a:t>US BD27</a:t>
                      </a:r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zuka Gothic Pro R"/>
                          <a:ea typeface="+mn-ea"/>
                          <a:cs typeface="+mn-cs"/>
                        </a:rPr>
                        <a:t>30-11-2023</a:t>
                      </a:r>
                      <a:endParaRPr kumimoji="0" lang="pt-PT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zuka Gothic Pro R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2427065"/>
                  </a:ext>
                </a:extLst>
              </a:tr>
              <a:tr h="329945">
                <a:tc>
                  <a:txBody>
                    <a:bodyPr/>
                    <a:lstStyle/>
                    <a:p>
                      <a:r>
                        <a:rPr lang="en-GB" sz="1400" dirty="0"/>
                        <a:t>US BD28</a:t>
                      </a:r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zuka Gothic Pro R"/>
                          <a:ea typeface="+mn-ea"/>
                          <a:cs typeface="+mn-cs"/>
                        </a:rPr>
                        <a:t>30-11-2023</a:t>
                      </a:r>
                      <a:endParaRPr kumimoji="0" lang="pt-PT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zuka Gothic Pro R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9092053"/>
                  </a:ext>
                </a:extLst>
              </a:tr>
              <a:tr h="329945">
                <a:tc>
                  <a:txBody>
                    <a:bodyPr/>
                    <a:lstStyle/>
                    <a:p>
                      <a:r>
                        <a:rPr lang="en-GB" sz="1400" dirty="0"/>
                        <a:t>US BD29</a:t>
                      </a:r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zuka Gothic Pro R"/>
                          <a:ea typeface="+mn-ea"/>
                          <a:cs typeface="+mn-cs"/>
                        </a:rPr>
                        <a:t>30-11-2023</a:t>
                      </a:r>
                      <a:endParaRPr kumimoji="0" lang="pt-PT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zuka Gothic Pro R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zuka Gothic Pro R"/>
                          <a:ea typeface="+mn-ea"/>
                          <a:cs typeface="+mn-cs"/>
                        </a:rPr>
                        <a:t>X</a:t>
                      </a:r>
                      <a:endParaRPr kumimoji="0" lang="pt-PT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zuka Gothic Pro R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9421886"/>
                  </a:ext>
                </a:extLst>
              </a:tr>
              <a:tr h="329945">
                <a:tc>
                  <a:txBody>
                    <a:bodyPr/>
                    <a:lstStyle/>
                    <a:p>
                      <a:r>
                        <a:rPr lang="en-GB" sz="1400" dirty="0"/>
                        <a:t>US BD30</a:t>
                      </a:r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zuka Gothic Pro R"/>
                          <a:ea typeface="+mn-ea"/>
                          <a:cs typeface="+mn-cs"/>
                        </a:rPr>
                        <a:t>30-11-2023</a:t>
                      </a:r>
                      <a:endParaRPr kumimoji="0" lang="pt-PT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zuka Gothic Pro R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zuka Gothic Pro R"/>
                          <a:ea typeface="+mn-ea"/>
                          <a:cs typeface="+mn-cs"/>
                        </a:rPr>
                        <a:t>X</a:t>
                      </a:r>
                      <a:endParaRPr kumimoji="0" lang="pt-PT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zuka Gothic Pro R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1956015"/>
                  </a:ext>
                </a:extLst>
              </a:tr>
              <a:tr h="3299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/>
                        <a:t>US BD31</a:t>
                      </a:r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zuka Gothic Pro R"/>
                          <a:ea typeface="+mn-ea"/>
                          <a:cs typeface="+mn-cs"/>
                        </a:rPr>
                        <a:t>30-11-2023</a:t>
                      </a:r>
                      <a:endParaRPr kumimoji="0" lang="pt-PT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zuka Gothic Pro R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zuka Gothic Pro R"/>
                          <a:ea typeface="+mn-ea"/>
                          <a:cs typeface="+mn-cs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9872937"/>
                  </a:ext>
                </a:extLst>
              </a:tr>
              <a:tr h="3299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/>
                        <a:t>US BD32</a:t>
                      </a:r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zuka Gothic Pro R"/>
                          <a:ea typeface="+mn-ea"/>
                          <a:cs typeface="+mn-cs"/>
                        </a:rPr>
                        <a:t>30-11-2023</a:t>
                      </a:r>
                      <a:endParaRPr kumimoji="0" lang="pt-PT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zuka Gothic Pro R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zuka Gothic Pro R"/>
                          <a:ea typeface="+mn-ea"/>
                          <a:cs typeface="+mn-cs"/>
                        </a:rPr>
                        <a:t>X</a:t>
                      </a:r>
                      <a:endParaRPr kumimoji="0" lang="pt-PT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zuka Gothic Pro R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1293850"/>
                  </a:ext>
                </a:extLst>
              </a:tr>
              <a:tr h="3299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/>
                        <a:t>US BD33</a:t>
                      </a:r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zuka Gothic Pro R"/>
                          <a:ea typeface="+mn-ea"/>
                          <a:cs typeface="+mn-cs"/>
                        </a:rPr>
                        <a:t>30-11-2023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zuka Gothic Pro R"/>
                          <a:ea typeface="+mn-ea"/>
                          <a:cs typeface="+mn-cs"/>
                        </a:rPr>
                        <a:t>X</a:t>
                      </a:r>
                      <a:endParaRPr kumimoji="0" lang="pt-PT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zuka Gothic Pro R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4325827"/>
                  </a:ext>
                </a:extLst>
              </a:tr>
              <a:tr h="3299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400" dirty="0"/>
                        <a:t>US BD34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zuka Gothic Pro R"/>
                          <a:ea typeface="+mn-ea"/>
                          <a:cs typeface="+mn-cs"/>
                        </a:rPr>
                        <a:t>30-11-2023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zuka Gothic Pro R"/>
                          <a:ea typeface="+mn-ea"/>
                          <a:cs typeface="+mn-cs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20543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6220219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87CCFBD-63B6-4340-92B3-5E03879F6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" y="1000108"/>
            <a:ext cx="9219520" cy="571504"/>
          </a:xfrm>
        </p:spPr>
        <p:txBody>
          <a:bodyPr/>
          <a:lstStyle/>
          <a:p>
            <a:r>
              <a:rPr lang="en-US" sz="3200" cap="none" dirty="0">
                <a:solidFill>
                  <a:schemeClr val="tx1"/>
                </a:solidFill>
              </a:rPr>
              <a:t>Sprint planning</a:t>
            </a:r>
          </a:p>
        </p:txBody>
      </p:sp>
      <p:graphicFrame>
        <p:nvGraphicFramePr>
          <p:cNvPr id="2" name="Tabela 2">
            <a:extLst>
              <a:ext uri="{FF2B5EF4-FFF2-40B4-BE49-F238E27FC236}">
                <a16:creationId xmlns:a16="http://schemas.microsoft.com/office/drawing/2014/main" id="{CE9589D4-96FD-42EC-88BF-AABA0DB75B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7453761"/>
              </p:ext>
            </p:extLst>
          </p:nvPr>
        </p:nvGraphicFramePr>
        <p:xfrm>
          <a:off x="448800" y="1891728"/>
          <a:ext cx="9008401" cy="333756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15886">
                  <a:extLst>
                    <a:ext uri="{9D8B030D-6E8A-4147-A177-3AD203B41FA5}">
                      <a16:colId xmlns:a16="http://schemas.microsoft.com/office/drawing/2014/main" val="3798560086"/>
                    </a:ext>
                  </a:extLst>
                </a:gridCol>
                <a:gridCol w="1382241">
                  <a:extLst>
                    <a:ext uri="{9D8B030D-6E8A-4147-A177-3AD203B41FA5}">
                      <a16:colId xmlns:a16="http://schemas.microsoft.com/office/drawing/2014/main" val="477562216"/>
                    </a:ext>
                  </a:extLst>
                </a:gridCol>
                <a:gridCol w="792931">
                  <a:extLst>
                    <a:ext uri="{9D8B030D-6E8A-4147-A177-3AD203B41FA5}">
                      <a16:colId xmlns:a16="http://schemas.microsoft.com/office/drawing/2014/main" val="1777303491"/>
                    </a:ext>
                  </a:extLst>
                </a:gridCol>
                <a:gridCol w="1194399">
                  <a:extLst>
                    <a:ext uri="{9D8B030D-6E8A-4147-A177-3AD203B41FA5}">
                      <a16:colId xmlns:a16="http://schemas.microsoft.com/office/drawing/2014/main" val="2634392098"/>
                    </a:ext>
                  </a:extLst>
                </a:gridCol>
                <a:gridCol w="1405178">
                  <a:extLst>
                    <a:ext uri="{9D8B030D-6E8A-4147-A177-3AD203B41FA5}">
                      <a16:colId xmlns:a16="http://schemas.microsoft.com/office/drawing/2014/main" val="4052991344"/>
                    </a:ext>
                  </a:extLst>
                </a:gridCol>
                <a:gridCol w="1258883">
                  <a:extLst>
                    <a:ext uri="{9D8B030D-6E8A-4147-A177-3AD203B41FA5}">
                      <a16:colId xmlns:a16="http://schemas.microsoft.com/office/drawing/2014/main" val="3578044204"/>
                    </a:ext>
                  </a:extLst>
                </a:gridCol>
                <a:gridCol w="1258883">
                  <a:extLst>
                    <a:ext uri="{9D8B030D-6E8A-4147-A177-3AD203B41FA5}">
                      <a16:colId xmlns:a16="http://schemas.microsoft.com/office/drawing/2014/main" val="31475702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/>
                        <a:t>Assignment 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Commited?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Todo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Doing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Testing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Done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/>
                        <a:t>Blocked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3111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US AC06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30-11-2023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3314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zuka Gothic Pro R"/>
                          <a:ea typeface="+mn-ea"/>
                          <a:cs typeface="+mn-cs"/>
                        </a:rPr>
                        <a:t>US AC07</a:t>
                      </a:r>
                      <a:endParaRPr kumimoji="0" lang="pt-PT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zuka Gothic Pro R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zuka Gothic Pro R"/>
                          <a:ea typeface="+mn-ea"/>
                          <a:cs typeface="+mn-cs"/>
                        </a:rPr>
                        <a:t>30-11-2023</a:t>
                      </a:r>
                      <a:endParaRPr kumimoji="0" lang="pt-PT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zuka Gothic Pro R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254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zuka Gothic Pro R"/>
                          <a:ea typeface="+mn-ea"/>
                          <a:cs typeface="+mn-cs"/>
                        </a:rPr>
                        <a:t>US AC08</a:t>
                      </a:r>
                      <a:endParaRPr kumimoji="0" lang="pt-PT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zuka Gothic Pro R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zuka Gothic Pro R"/>
                          <a:ea typeface="+mn-ea"/>
                          <a:cs typeface="+mn-cs"/>
                        </a:rPr>
                        <a:t>30-11-2023</a:t>
                      </a:r>
                      <a:endParaRPr kumimoji="0" lang="pt-PT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zuka Gothic Pro R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8649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zuka Gothic Pro R"/>
                          <a:ea typeface="+mn-ea"/>
                          <a:cs typeface="+mn-cs"/>
                        </a:rPr>
                        <a:t>US AC09</a:t>
                      </a:r>
                      <a:endParaRPr kumimoji="0" lang="pt-PT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zuka Gothic Pro R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zuka Gothic Pro R"/>
                          <a:ea typeface="+mn-ea"/>
                          <a:cs typeface="+mn-cs"/>
                        </a:rPr>
                        <a:t>30-11-2023</a:t>
                      </a:r>
                      <a:endParaRPr kumimoji="0" lang="pt-PT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zuka Gothic Pro R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2427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zuka Gothic Pro R"/>
                          <a:ea typeface="+mn-ea"/>
                          <a:cs typeface="+mn-cs"/>
                        </a:rPr>
                        <a:t>US AC10</a:t>
                      </a:r>
                      <a:endParaRPr kumimoji="0" lang="pt-PT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zuka Gothic Pro R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zuka Gothic Pro R"/>
                          <a:ea typeface="+mn-ea"/>
                          <a:cs typeface="+mn-cs"/>
                        </a:rPr>
                        <a:t>30-11-2023</a:t>
                      </a:r>
                      <a:endParaRPr kumimoji="0" lang="pt-PT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zuka Gothic Pro R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9092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US AC11</a:t>
                      </a:r>
                      <a:endParaRPr kumimoji="0" lang="pt-PT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zuka Gothic Pro R"/>
                          <a:ea typeface="+mn-ea"/>
                          <a:cs typeface="+mn-cs"/>
                        </a:rPr>
                        <a:t>30-11-2023</a:t>
                      </a:r>
                      <a:endParaRPr kumimoji="0" lang="pt-PT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zuka Gothic Pro R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2319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US AC12</a:t>
                      </a:r>
                      <a:endParaRPr kumimoji="0" lang="pt-PT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zuka Gothic Pro R"/>
                          <a:ea typeface="+mn-ea"/>
                          <a:cs typeface="+mn-cs"/>
                        </a:rPr>
                        <a:t>30-11-2023</a:t>
                      </a:r>
                      <a:endParaRPr kumimoji="0" lang="pt-PT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zuka Gothic Pro R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2583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US AC13</a:t>
                      </a:r>
                      <a:endParaRPr kumimoji="0" lang="pt-PT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zuka Gothic Pro R"/>
                          <a:ea typeface="+mn-ea"/>
                          <a:cs typeface="+mn-cs"/>
                        </a:rPr>
                        <a:t>30-11-2023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81992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8650528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87CCFBD-63B6-4340-92B3-5E03879F6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" y="1000108"/>
            <a:ext cx="9219520" cy="571504"/>
          </a:xfrm>
        </p:spPr>
        <p:txBody>
          <a:bodyPr/>
          <a:lstStyle/>
          <a:p>
            <a:r>
              <a:rPr lang="en-US" sz="3200" cap="none">
                <a:solidFill>
                  <a:schemeClr val="tx1"/>
                </a:solidFill>
              </a:rPr>
              <a:t>Sprint planning</a:t>
            </a:r>
          </a:p>
        </p:txBody>
      </p:sp>
      <p:graphicFrame>
        <p:nvGraphicFramePr>
          <p:cNvPr id="2" name="Tabela 2">
            <a:extLst>
              <a:ext uri="{FF2B5EF4-FFF2-40B4-BE49-F238E27FC236}">
                <a16:creationId xmlns:a16="http://schemas.microsoft.com/office/drawing/2014/main" id="{CE9589D4-96FD-42EC-88BF-AABA0DB75B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6047138"/>
              </p:ext>
            </p:extLst>
          </p:nvPr>
        </p:nvGraphicFramePr>
        <p:xfrm>
          <a:off x="448800" y="1891728"/>
          <a:ext cx="9008401" cy="185420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15886">
                  <a:extLst>
                    <a:ext uri="{9D8B030D-6E8A-4147-A177-3AD203B41FA5}">
                      <a16:colId xmlns:a16="http://schemas.microsoft.com/office/drawing/2014/main" val="3798560086"/>
                    </a:ext>
                  </a:extLst>
                </a:gridCol>
                <a:gridCol w="1382241">
                  <a:extLst>
                    <a:ext uri="{9D8B030D-6E8A-4147-A177-3AD203B41FA5}">
                      <a16:colId xmlns:a16="http://schemas.microsoft.com/office/drawing/2014/main" val="477562216"/>
                    </a:ext>
                  </a:extLst>
                </a:gridCol>
                <a:gridCol w="792931">
                  <a:extLst>
                    <a:ext uri="{9D8B030D-6E8A-4147-A177-3AD203B41FA5}">
                      <a16:colId xmlns:a16="http://schemas.microsoft.com/office/drawing/2014/main" val="1777303491"/>
                    </a:ext>
                  </a:extLst>
                </a:gridCol>
                <a:gridCol w="1194399">
                  <a:extLst>
                    <a:ext uri="{9D8B030D-6E8A-4147-A177-3AD203B41FA5}">
                      <a16:colId xmlns:a16="http://schemas.microsoft.com/office/drawing/2014/main" val="2634392098"/>
                    </a:ext>
                  </a:extLst>
                </a:gridCol>
                <a:gridCol w="1405178">
                  <a:extLst>
                    <a:ext uri="{9D8B030D-6E8A-4147-A177-3AD203B41FA5}">
                      <a16:colId xmlns:a16="http://schemas.microsoft.com/office/drawing/2014/main" val="4052991344"/>
                    </a:ext>
                  </a:extLst>
                </a:gridCol>
                <a:gridCol w="1258883">
                  <a:extLst>
                    <a:ext uri="{9D8B030D-6E8A-4147-A177-3AD203B41FA5}">
                      <a16:colId xmlns:a16="http://schemas.microsoft.com/office/drawing/2014/main" val="3578044204"/>
                    </a:ext>
                  </a:extLst>
                </a:gridCol>
                <a:gridCol w="1258883">
                  <a:extLst>
                    <a:ext uri="{9D8B030D-6E8A-4147-A177-3AD203B41FA5}">
                      <a16:colId xmlns:a16="http://schemas.microsoft.com/office/drawing/2014/main" val="31475702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/>
                        <a:t>Assignment 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Commited?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Todo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Doing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Testing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Done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/>
                        <a:t>Blocked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3111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US FA05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30-11-2023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3314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zuka Gothic Pro R"/>
                          <a:ea typeface="+mn-ea"/>
                          <a:cs typeface="+mn-cs"/>
                        </a:rPr>
                        <a:t>US FA06</a:t>
                      </a:r>
                      <a:endParaRPr kumimoji="0" lang="pt-PT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zuka Gothic Pro R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zuka Gothic Pro R"/>
                          <a:ea typeface="+mn-ea"/>
                          <a:cs typeface="+mn-cs"/>
                        </a:rPr>
                        <a:t>30-11-2023</a:t>
                      </a:r>
                      <a:endParaRPr kumimoji="0" lang="pt-PT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zuka Gothic Pro R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254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zuka Gothic Pro R"/>
                          <a:ea typeface="+mn-ea"/>
                          <a:cs typeface="+mn-cs"/>
                        </a:rPr>
                        <a:t>US FA07</a:t>
                      </a:r>
                      <a:endParaRPr kumimoji="0" lang="pt-PT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zuka Gothic Pro R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zuka Gothic Pro R"/>
                          <a:ea typeface="+mn-ea"/>
                          <a:cs typeface="+mn-cs"/>
                        </a:rPr>
                        <a:t>30-11-2023</a:t>
                      </a:r>
                      <a:endParaRPr kumimoji="0" lang="pt-PT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zuka Gothic Pro R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8649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zuka Gothic Pro R"/>
                          <a:ea typeface="+mn-ea"/>
                          <a:cs typeface="+mn-cs"/>
                        </a:rPr>
                        <a:t>US FA08</a:t>
                      </a:r>
                      <a:endParaRPr kumimoji="0" lang="pt-PT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zuka Gothic Pro R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zuka Gothic Pro R"/>
                          <a:ea typeface="+mn-ea"/>
                          <a:cs typeface="+mn-cs"/>
                        </a:rPr>
                        <a:t>30-11-2023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24270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0086382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87CCFBD-63B6-4340-92B3-5E03879F6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" y="1000108"/>
            <a:ext cx="9219520" cy="571504"/>
          </a:xfrm>
        </p:spPr>
        <p:txBody>
          <a:bodyPr/>
          <a:lstStyle/>
          <a:p>
            <a:r>
              <a:rPr lang="en-US" sz="3200" cap="none">
                <a:solidFill>
                  <a:schemeClr val="tx1"/>
                </a:solidFill>
              </a:rPr>
              <a:t>Sprint planning</a:t>
            </a:r>
          </a:p>
        </p:txBody>
      </p:sp>
      <p:graphicFrame>
        <p:nvGraphicFramePr>
          <p:cNvPr id="2" name="Tabela 2">
            <a:extLst>
              <a:ext uri="{FF2B5EF4-FFF2-40B4-BE49-F238E27FC236}">
                <a16:creationId xmlns:a16="http://schemas.microsoft.com/office/drawing/2014/main" id="{CE9589D4-96FD-42EC-88BF-AABA0DB75B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5239000"/>
              </p:ext>
            </p:extLst>
          </p:nvPr>
        </p:nvGraphicFramePr>
        <p:xfrm>
          <a:off x="448800" y="1891728"/>
          <a:ext cx="9008401" cy="25958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15886">
                  <a:extLst>
                    <a:ext uri="{9D8B030D-6E8A-4147-A177-3AD203B41FA5}">
                      <a16:colId xmlns:a16="http://schemas.microsoft.com/office/drawing/2014/main" val="3798560086"/>
                    </a:ext>
                  </a:extLst>
                </a:gridCol>
                <a:gridCol w="1382241">
                  <a:extLst>
                    <a:ext uri="{9D8B030D-6E8A-4147-A177-3AD203B41FA5}">
                      <a16:colId xmlns:a16="http://schemas.microsoft.com/office/drawing/2014/main" val="477562216"/>
                    </a:ext>
                  </a:extLst>
                </a:gridCol>
                <a:gridCol w="792931">
                  <a:extLst>
                    <a:ext uri="{9D8B030D-6E8A-4147-A177-3AD203B41FA5}">
                      <a16:colId xmlns:a16="http://schemas.microsoft.com/office/drawing/2014/main" val="1777303491"/>
                    </a:ext>
                  </a:extLst>
                </a:gridCol>
                <a:gridCol w="1194399">
                  <a:extLst>
                    <a:ext uri="{9D8B030D-6E8A-4147-A177-3AD203B41FA5}">
                      <a16:colId xmlns:a16="http://schemas.microsoft.com/office/drawing/2014/main" val="2634392098"/>
                    </a:ext>
                  </a:extLst>
                </a:gridCol>
                <a:gridCol w="1405178">
                  <a:extLst>
                    <a:ext uri="{9D8B030D-6E8A-4147-A177-3AD203B41FA5}">
                      <a16:colId xmlns:a16="http://schemas.microsoft.com/office/drawing/2014/main" val="4052991344"/>
                    </a:ext>
                  </a:extLst>
                </a:gridCol>
                <a:gridCol w="1258883">
                  <a:extLst>
                    <a:ext uri="{9D8B030D-6E8A-4147-A177-3AD203B41FA5}">
                      <a16:colId xmlns:a16="http://schemas.microsoft.com/office/drawing/2014/main" val="3578044204"/>
                    </a:ext>
                  </a:extLst>
                </a:gridCol>
                <a:gridCol w="1258883">
                  <a:extLst>
                    <a:ext uri="{9D8B030D-6E8A-4147-A177-3AD203B41FA5}">
                      <a16:colId xmlns:a16="http://schemas.microsoft.com/office/drawing/2014/main" val="31475702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/>
                        <a:t>Assignment 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Commited?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Todo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Doing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Testing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Done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/>
                        <a:t>Blocked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3111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US EI06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30-11-2023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3314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zuka Gothic Pro R"/>
                          <a:ea typeface="+mn-ea"/>
                          <a:cs typeface="+mn-cs"/>
                        </a:rPr>
                        <a:t>US EI07</a:t>
                      </a:r>
                      <a:endParaRPr kumimoji="0" lang="pt-PT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zuka Gothic Pro R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zuka Gothic Pro R"/>
                          <a:ea typeface="+mn-ea"/>
                          <a:cs typeface="+mn-cs"/>
                        </a:rPr>
                        <a:t>30-11-2023</a:t>
                      </a:r>
                      <a:endParaRPr kumimoji="0" lang="pt-PT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zuka Gothic Pro R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6901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zuka Gothic Pro R"/>
                          <a:ea typeface="+mn-ea"/>
                          <a:cs typeface="+mn-cs"/>
                        </a:rPr>
                        <a:t>US EI08</a:t>
                      </a:r>
                      <a:endParaRPr kumimoji="0" lang="pt-PT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zuka Gothic Pro R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zuka Gothic Pro R"/>
                          <a:ea typeface="+mn-ea"/>
                          <a:cs typeface="+mn-cs"/>
                        </a:rPr>
                        <a:t>30-11-2023</a:t>
                      </a:r>
                      <a:endParaRPr kumimoji="0" lang="pt-PT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zuka Gothic Pro R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254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zuka Gothic Pro R"/>
                          <a:ea typeface="+mn-ea"/>
                          <a:cs typeface="+mn-cs"/>
                        </a:rPr>
                        <a:t>US EI09</a:t>
                      </a:r>
                      <a:endParaRPr kumimoji="0" lang="pt-PT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zuka Gothic Pro R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zuka Gothic Pro R"/>
                          <a:ea typeface="+mn-ea"/>
                          <a:cs typeface="+mn-cs"/>
                        </a:rPr>
                        <a:t>30-11-2023</a:t>
                      </a:r>
                      <a:endParaRPr kumimoji="0" lang="pt-PT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zuka Gothic Pro R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8649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zuka Gothic Pro R"/>
                          <a:ea typeface="+mn-ea"/>
                          <a:cs typeface="+mn-cs"/>
                        </a:rPr>
                        <a:t>US EI10</a:t>
                      </a:r>
                      <a:endParaRPr kumimoji="0" lang="pt-PT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zuka Gothic Pro R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zuka Gothic Pro R"/>
                          <a:ea typeface="+mn-ea"/>
                          <a:cs typeface="+mn-cs"/>
                        </a:rPr>
                        <a:t>30-11-2023</a:t>
                      </a:r>
                      <a:endParaRPr kumimoji="0" lang="pt-PT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zuka Gothic Pro R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2427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US EI11</a:t>
                      </a:r>
                      <a:endParaRPr kumimoji="0" lang="pt-PT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zuka Gothic Pro R"/>
                          <a:ea typeface="+mn-ea"/>
                          <a:cs typeface="+mn-cs"/>
                        </a:rPr>
                        <a:t>30-11-2023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4445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4416060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D09C92-6533-459B-B793-05CE76CDC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z="3200" cap="none" dirty="0">
                <a:solidFill>
                  <a:schemeClr val="tx1"/>
                </a:solidFill>
              </a:rPr>
              <a:t>Work </a:t>
            </a:r>
            <a:r>
              <a:rPr lang="pt-PT" sz="3200" cap="none" dirty="0" err="1">
                <a:solidFill>
                  <a:schemeClr val="tx1"/>
                </a:solidFill>
              </a:rPr>
              <a:t>by</a:t>
            </a:r>
            <a:r>
              <a:rPr lang="pt-PT" sz="3200" cap="none" dirty="0">
                <a:solidFill>
                  <a:schemeClr val="tx1"/>
                </a:solidFill>
              </a:rPr>
              <a:t> team </a:t>
            </a:r>
            <a:r>
              <a:rPr lang="pt-PT" sz="3200" cap="none" dirty="0" err="1">
                <a:solidFill>
                  <a:schemeClr val="tx1"/>
                </a:solidFill>
              </a:rPr>
              <a:t>member</a:t>
            </a:r>
            <a:endParaRPr lang="pt-PT" sz="3200" cap="none" dirty="0">
              <a:solidFill>
                <a:schemeClr val="tx1"/>
              </a:solidFill>
            </a:endParaRPr>
          </a:p>
        </p:txBody>
      </p:sp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CC0ADD5B-A00D-489E-9390-B75485840C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77429504"/>
              </p:ext>
            </p:extLst>
          </p:nvPr>
        </p:nvGraphicFramePr>
        <p:xfrm>
          <a:off x="1622630" y="1673805"/>
          <a:ext cx="6604000" cy="4402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42576471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D09C92-6533-459B-B793-05CE76CDC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z="3200" cap="none" dirty="0">
                <a:solidFill>
                  <a:schemeClr val="tx1"/>
                </a:solidFill>
              </a:rPr>
              <a:t>Work </a:t>
            </a:r>
            <a:r>
              <a:rPr lang="pt-PT" sz="3200" cap="none" dirty="0" err="1">
                <a:solidFill>
                  <a:schemeClr val="tx1"/>
                </a:solidFill>
              </a:rPr>
              <a:t>by</a:t>
            </a:r>
            <a:r>
              <a:rPr lang="pt-PT" sz="3200" cap="none" dirty="0">
                <a:solidFill>
                  <a:schemeClr val="tx1"/>
                </a:solidFill>
              </a:rPr>
              <a:t> </a:t>
            </a:r>
            <a:r>
              <a:rPr lang="pt-PT" sz="3200" cap="none" dirty="0" err="1">
                <a:solidFill>
                  <a:schemeClr val="tx1"/>
                </a:solidFill>
              </a:rPr>
              <a:t>type</a:t>
            </a:r>
            <a:endParaRPr lang="pt-PT" sz="3200" cap="none" dirty="0">
              <a:solidFill>
                <a:schemeClr val="tx1"/>
              </a:solidFill>
            </a:endParaRPr>
          </a:p>
        </p:txBody>
      </p:sp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90ED7699-5188-411A-AA61-860BAD3DF6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29681639"/>
              </p:ext>
            </p:extLst>
          </p:nvPr>
        </p:nvGraphicFramePr>
        <p:xfrm>
          <a:off x="1487615" y="1898830"/>
          <a:ext cx="6604000" cy="4402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06292261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DB96577C-34ED-48A2-A7FD-C6822D879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z="3200" cap="none" dirty="0">
                <a:solidFill>
                  <a:schemeClr val="tx1"/>
                </a:solidFill>
              </a:rPr>
              <a:t>Sprint </a:t>
            </a:r>
            <a:r>
              <a:rPr lang="pt-PT" sz="3200" cap="none" dirty="0" err="1">
                <a:solidFill>
                  <a:schemeClr val="tx1"/>
                </a:solidFill>
              </a:rPr>
              <a:t>Burndown</a:t>
            </a:r>
            <a:r>
              <a:rPr lang="pt-PT" sz="3200" cap="none" dirty="0">
                <a:solidFill>
                  <a:schemeClr val="tx1"/>
                </a:solidFill>
              </a:rPr>
              <a:t> </a:t>
            </a:r>
            <a:r>
              <a:rPr lang="pt-PT" sz="3200" cap="none" dirty="0" err="1">
                <a:solidFill>
                  <a:schemeClr val="tx1"/>
                </a:solidFill>
              </a:rPr>
              <a:t>Chart</a:t>
            </a:r>
            <a:endParaRPr lang="pt-PT" sz="3200" cap="none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444EA95-E07F-CF8E-4FE8-EF518A6B0B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745" y="1922070"/>
            <a:ext cx="9133617" cy="3928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5336153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87CCFBD-63B6-4340-92B3-5E03879F6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cap="none">
                <a:solidFill>
                  <a:schemeClr val="tx1"/>
                </a:solidFill>
              </a:rPr>
              <a:t>Sprint Retrospective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D06360EC-9833-4654-B8AD-2795D9E72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Date: 03-01-2024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46F64C-4411-4F59-B546-FCD8654F7B3C}"/>
              </a:ext>
            </a:extLst>
          </p:cNvPr>
          <p:cNvSpPr/>
          <p:nvPr/>
        </p:nvSpPr>
        <p:spPr>
          <a:xfrm>
            <a:off x="250869" y="2528901"/>
            <a:ext cx="2970330" cy="36855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u="sng" dirty="0">
                <a:solidFill>
                  <a:schemeClr val="tx1"/>
                </a:solidFill>
              </a:rPr>
              <a:t>What went well?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Communication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Tasks organization and inter support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B9FD58-6876-4E87-998E-ACA36985B86E}"/>
              </a:ext>
            </a:extLst>
          </p:cNvPr>
          <p:cNvSpPr/>
          <p:nvPr/>
        </p:nvSpPr>
        <p:spPr>
          <a:xfrm>
            <a:off x="3480763" y="2528901"/>
            <a:ext cx="2970330" cy="36855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u="sng" dirty="0">
                <a:solidFill>
                  <a:schemeClr val="tx1"/>
                </a:solidFill>
              </a:rPr>
              <a:t>What went wrong?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Sprint workload distribution.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B8E455-F8DD-4DEF-9E49-A26421870FC1}"/>
              </a:ext>
            </a:extLst>
          </p:cNvPr>
          <p:cNvSpPr/>
          <p:nvPr/>
        </p:nvSpPr>
        <p:spPr>
          <a:xfrm>
            <a:off x="6708195" y="2528900"/>
            <a:ext cx="2970330" cy="36855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u="sng" dirty="0">
                <a:solidFill>
                  <a:schemeClr val="tx1"/>
                </a:solidFill>
              </a:rPr>
              <a:t>What we’ve learned?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Breakdown tasks into smaller sub-tasks to have ongoing work sooner, with impact on the deliverable.</a:t>
            </a:r>
          </a:p>
        </p:txBody>
      </p:sp>
    </p:spTree>
    <p:extLst>
      <p:ext uri="{BB962C8B-B14F-4D97-AF65-F5344CB8AC3E}">
        <p14:creationId xmlns:p14="http://schemas.microsoft.com/office/powerpoint/2010/main" val="3250254882"/>
      </p:ext>
    </p:extLst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87CCFBD-63B6-4340-92B3-5E03879F6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cap="none">
                <a:solidFill>
                  <a:schemeClr val="tx1"/>
                </a:solidFill>
              </a:rPr>
              <a:t>Sprint Retrospective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D06360EC-9833-4654-B8AD-2795D9E72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Date: 03-01-2024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46F64C-4411-4F59-B546-FCD8654F7B3C}"/>
              </a:ext>
            </a:extLst>
          </p:cNvPr>
          <p:cNvSpPr/>
          <p:nvPr/>
        </p:nvSpPr>
        <p:spPr>
          <a:xfrm>
            <a:off x="448801" y="2393885"/>
            <a:ext cx="9008400" cy="35553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u="sng" dirty="0">
                <a:solidFill>
                  <a:schemeClr val="tx1"/>
                </a:solidFill>
              </a:rPr>
              <a:t>Action items: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Close sprint on JIRA.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Submit all documents on each required platform.</a:t>
            </a:r>
          </a:p>
        </p:txBody>
      </p:sp>
    </p:spTree>
    <p:extLst>
      <p:ext uri="{BB962C8B-B14F-4D97-AF65-F5344CB8AC3E}">
        <p14:creationId xmlns:p14="http://schemas.microsoft.com/office/powerpoint/2010/main" val="81955380"/>
      </p:ext>
    </p:extLst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ISEP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ISEP_Kozuka">
      <a:majorFont>
        <a:latin typeface="Kozuka Gothic Pro M"/>
        <a:ea typeface=""/>
        <a:cs typeface=""/>
      </a:majorFont>
      <a:minorFont>
        <a:latin typeface="Kozuka Gothic Pro R"/>
        <a:ea typeface=""/>
        <a:cs typeface=""/>
      </a:minorFont>
    </a:fontScheme>
    <a:fmtScheme name="Energia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solidFill>
          <a:schemeClr val="bg1">
            <a:alpha val="70000"/>
          </a:schemeClr>
        </a:solidFill>
      </a:spPr>
      <a:bodyPr/>
      <a:lstStyle>
        <a:defPPr marL="342900" marR="0" indent="-342900" algn="l" defTabSz="914400" rtl="0" eaLnBrk="1" fontAlgn="auto" latinLnBrk="0" hangingPunct="1">
          <a:lnSpc>
            <a:spcPct val="100000"/>
          </a:lnSpc>
          <a:spcBef>
            <a:spcPct val="20000"/>
          </a:spcBef>
          <a:spcAft>
            <a:spcPts val="0"/>
          </a:spcAft>
          <a:buClrTx/>
          <a:buSzTx/>
          <a:buFont typeface="Arial" pitchFamily="34" charset="0"/>
          <a:buChar char="•"/>
          <a:tabLst/>
          <a:defRPr kumimoji="0" sz="2000" b="0" i="0" u="none" strike="noStrike" kern="1200" cap="none" spc="0" normalizeH="0" baseline="0" noProof="0" dirty="0" smtClean="0">
            <a:ln>
              <a:noFill/>
            </a:ln>
            <a:solidFill>
              <a:srgbClr val="00CAEF"/>
            </a:solidFill>
            <a:effectLst/>
            <a:uLnTx/>
            <a:uFillTx/>
            <a:latin typeface="+mn-lt"/>
            <a:ea typeface="+mn-ea"/>
            <a:cs typeface="+mn-cs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836243B3C47804EAF5FFDD9F066FCC7" ma:contentTypeVersion="2" ma:contentTypeDescription="Create a new document." ma:contentTypeScope="" ma:versionID="0469372245184f18195408053fbf9b6d">
  <xsd:schema xmlns:xsd="http://www.w3.org/2001/XMLSchema" xmlns:xs="http://www.w3.org/2001/XMLSchema" xmlns:p="http://schemas.microsoft.com/office/2006/metadata/properties" xmlns:ns2="a1e3ca88-8ae5-4fd0-ba37-40ce669fcbb0" targetNamespace="http://schemas.microsoft.com/office/2006/metadata/properties" ma:root="true" ma:fieldsID="15cd5fdf54d7c5df31b4840e959455b1" ns2:_="">
    <xsd:import namespace="a1e3ca88-8ae5-4fd0-ba37-40ce669fcbb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e3ca88-8ae5-4fd0-ba37-40ce669fcbb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092E48C-C6FF-44AE-8C78-D9681B66D30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1e3ca88-8ae5-4fd0-ba37-40ce669fcbb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9B87164-EF5F-43C8-917E-48B38ACAFD1E}">
  <ds:schemaRefs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a1e3ca88-8ae5-4fd0-ba37-40ce669fcbb0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F984168-AABC-4753-B4EC-59CA9D08839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3541</TotalTime>
  <Words>364</Words>
  <Application>Microsoft Office PowerPoint</Application>
  <PresentationFormat>A4 Paper (210x297 mm)</PresentationFormat>
  <Paragraphs>180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Kozuka Gothic Pro R</vt:lpstr>
      <vt:lpstr>ISEP</vt:lpstr>
      <vt:lpstr>Class 2Nx2NB Group 322 SPRINT 3</vt:lpstr>
      <vt:lpstr>Sprint planning – Sprint 3</vt:lpstr>
      <vt:lpstr>Sprint planning</vt:lpstr>
      <vt:lpstr>Sprint planning</vt:lpstr>
      <vt:lpstr>Sprint planning</vt:lpstr>
      <vt:lpstr>Sprint planning</vt:lpstr>
      <vt:lpstr>Sprint planning</vt:lpstr>
      <vt:lpstr>Work by team member</vt:lpstr>
      <vt:lpstr>Work by type</vt:lpstr>
      <vt:lpstr>Sprint Burndown Chart</vt:lpstr>
      <vt:lpstr>Sprint Retrospective</vt:lpstr>
      <vt:lpstr>Sprint Retrospective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Diapositivo 1</dc:title>
  <dc:creator>FlavioRamos</dc:creator>
  <cp:lastModifiedBy>Rafael Ascenção Carolo</cp:lastModifiedBy>
  <cp:revision>472</cp:revision>
  <dcterms:created xsi:type="dcterms:W3CDTF">2010-10-20T15:48:12Z</dcterms:created>
  <dcterms:modified xsi:type="dcterms:W3CDTF">2024-01-02T21:10:21Z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0x0101005836243B3C47804EAF5FFDD9F066FCC7</vt:lpwstr>
  </property>
</Properties>
</file>